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005840"/>
            <a:ext cx="1463040" cy="256032"/>
          </a:xfrm>
          <a:prstGeom prst="rect">
            <a:avLst/>
          </a:prstGeom>
          <a:solidFill>
            <a:srgbClr val="E8F5EB"/>
          </a:solidFill>
          <a:ln w="12700">
            <a:solidFill>
              <a:srgbClr val="C8E6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005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RE/START PROGRAMME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FreshlyGround Café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22402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BB8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Migration Proposal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371600" y="2834640"/>
            <a:ext cx="5029200" cy="0"/>
          </a:xfrm>
          <a:prstGeom prst="line">
            <a:avLst/>
          </a:prstGeom>
          <a:noFill/>
          <a:ln w="19050">
            <a:solidFill>
              <a:srgbClr val="3A7D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9718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from On-Premises to AWS for a Faster,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Reliable, and Scalable Future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4023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Junior Motsoko  ·  AWS re/Start Learner  ·  2025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0" y="731520"/>
            <a:ext cx="1280160" cy="1280160"/>
          </a:xfrm>
          <a:prstGeom prst="rect">
            <a:avLst/>
          </a:prstGeom>
          <a:solidFill>
            <a:srgbClr val="1F1F1F"/>
          </a:solidFill>
          <a:ln w="12700">
            <a:solidFill>
              <a:srgbClr val="3A7D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0" y="82296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☕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7498080" y="4480560"/>
            <a:ext cx="1554480" cy="320040"/>
          </a:xfrm>
          <a:prstGeom prst="rect">
            <a:avLst/>
          </a:prstGeom>
          <a:solidFill>
            <a:srgbClr val="1F1F1F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4480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Hosted on AWS S3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1005840"/>
          </a:xfrm>
          <a:prstGeom prst="rect">
            <a:avLst/>
          </a:prstGeom>
          <a:solidFill>
            <a:srgbClr val="1F1F1F"/>
          </a:solidFill>
          <a:ln w="12700">
            <a:solidFill>
              <a:srgbClr val="3A7D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02920" cy="100584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0515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4356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FreshlyGround needs to move to the cloud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206240" cy="1005840"/>
          </a:xfrm>
          <a:prstGeom prst="rect">
            <a:avLst/>
          </a:prstGeom>
          <a:solidFill>
            <a:srgbClr val="1F1F1F"/>
          </a:solidFill>
          <a:ln w="12700">
            <a:solidFill>
              <a:srgbClr val="3A7D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502920" cy="100584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9601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49240" y="10515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14356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as the platform of choice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194560"/>
            <a:ext cx="4206240" cy="1005840"/>
          </a:xfrm>
          <a:prstGeom prst="rect">
            <a:avLst/>
          </a:prstGeom>
          <a:solidFill>
            <a:srgbClr val="1F1F1F"/>
          </a:solidFill>
          <a:ln w="12700">
            <a:solidFill>
              <a:srgbClr val="3A7D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194560"/>
            <a:ext cx="502920" cy="100584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1945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22860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AWS Services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267004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S3, EC2, RDS, Lambda, IAM &amp; more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194560"/>
            <a:ext cx="4206240" cy="1005840"/>
          </a:xfrm>
          <a:prstGeom prst="rect">
            <a:avLst/>
          </a:prstGeom>
          <a:solidFill>
            <a:srgbClr val="1F1F1F"/>
          </a:solidFill>
          <a:ln w="12700">
            <a:solidFill>
              <a:srgbClr val="3A7D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194560"/>
            <a:ext cx="502920" cy="100584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1945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9240" y="22860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&amp; Cost Estimate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267004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of expected monthly costs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429000"/>
            <a:ext cx="4206240" cy="1005840"/>
          </a:xfrm>
          <a:prstGeom prst="rect">
            <a:avLst/>
          </a:prstGeom>
          <a:solidFill>
            <a:srgbClr val="1F1F1F"/>
          </a:solidFill>
          <a:ln w="12700">
            <a:solidFill>
              <a:srgbClr val="3A7D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429000"/>
            <a:ext cx="502920" cy="100584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4290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68680" y="35204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 of AWS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390448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AWS beats on-premises every time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429000"/>
            <a:ext cx="4206240" cy="1005840"/>
          </a:xfrm>
          <a:prstGeom prst="rect">
            <a:avLst/>
          </a:prstGeom>
          <a:solidFill>
            <a:srgbClr val="1F1F1F"/>
          </a:solidFill>
          <a:ln w="12700">
            <a:solidFill>
              <a:srgbClr val="3A7D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429000"/>
            <a:ext cx="502920" cy="100584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4290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49240" y="35204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Architecture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390448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cloud infrastructure overview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— FreshlyGround Café: Current State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1737360"/>
          </a:xfrm>
          <a:prstGeom prst="rect">
            <a:avLst/>
          </a:prstGeom>
          <a:solidFill>
            <a:srgbClr val="1F1F1F"/>
          </a:solidFill>
          <a:ln w="12700">
            <a:solidFill>
              <a:srgbClr val="3A7D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10698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B8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Outdated On-Premises Systems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43560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Ageing servers cause avg. 14 hrs/month downtime. Gartner estimates downtime costs SMBs $5,600/hr in lost revenue.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206240" cy="1737360"/>
          </a:xfrm>
          <a:prstGeom prst="rect">
            <a:avLst/>
          </a:prstGeom>
          <a:solidFill>
            <a:srgbClr val="1F1F1F"/>
          </a:solidFill>
          <a:ln w="12700">
            <a:solidFill>
              <a:srgbClr val="3A7D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623560" y="10698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B8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Online Presence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143560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 of consumers check a business online before visiting. No website means lost customers to competitors daily.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4206240" cy="1737360"/>
          </a:xfrm>
          <a:prstGeom prst="rect">
            <a:avLst/>
          </a:prstGeom>
          <a:solidFill>
            <a:srgbClr val="1F1F1F"/>
          </a:solidFill>
          <a:ln w="12700">
            <a:solidFill>
              <a:srgbClr val="3A7D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143000" y="29900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B8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Can't Scale for Peak Demand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335584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coffee shops see 3x traffic spikes on weekends. On-premises hardware cannot scale — orders are lost.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880360"/>
            <a:ext cx="4206240" cy="1737360"/>
          </a:xfrm>
          <a:prstGeom prst="rect">
            <a:avLst/>
          </a:prstGeom>
          <a:solidFill>
            <a:srgbClr val="1F1F1F"/>
          </a:solidFill>
          <a:ln w="12700">
            <a:solidFill>
              <a:srgbClr val="3A7D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623560" y="29900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B8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Vulnerabilities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23560" y="335584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of cyberattacks target small businesses. Without backups or access control, a breach could shut down operations permanently.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FreshlyGround will adopt a Hybrid-to-Full Cloud Migration model using Amazon Web Services (AWS).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011680" cy="3383280"/>
          </a:xfrm>
          <a:prstGeom prst="rect">
            <a:avLst/>
          </a:prstGeom>
          <a:solidFill>
            <a:srgbClr val="1F1F1F"/>
          </a:solidFill>
          <a:ln w="12700">
            <a:solidFill>
              <a:srgbClr val="3A7D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71600"/>
            <a:ext cx="2011680" cy="384048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71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828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🪣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84048" y="25146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Website on S3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3063240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the café's website on Amazon S3 with static website hosting. Menu, contact info, and branding — live immediately.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50592" y="1371600"/>
            <a:ext cx="2011680" cy="3383280"/>
          </a:xfrm>
          <a:prstGeom prst="rect">
            <a:avLst/>
          </a:prstGeom>
          <a:solidFill>
            <a:srgbClr val="1F1F1F"/>
          </a:solidFill>
          <a:ln w="12700">
            <a:solidFill>
              <a:srgbClr val="3A7D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1371600"/>
            <a:ext cx="2011680" cy="384048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1371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50592" y="1828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🖥️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560320" y="25146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with EC2 &amp; Lambda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3063240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scalable compute for order processing and app logic. Lambda handles serverless events; EC2 runs persistent workloads.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26864" y="1371600"/>
            <a:ext cx="2011680" cy="3383280"/>
          </a:xfrm>
          <a:prstGeom prst="rect">
            <a:avLst/>
          </a:prstGeom>
          <a:solidFill>
            <a:srgbClr val="1F1F1F"/>
          </a:solidFill>
          <a:ln w="12700">
            <a:solidFill>
              <a:srgbClr val="3A7D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1371600"/>
            <a:ext cx="2011680" cy="384048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1371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26864" y="1828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🗄️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736592" y="25146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Migration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36592" y="3063240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on-premises databases to Amazon RDS and DynamoDB. Use AWS DMS for seamless, zero-downtime data migration.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03136" y="1371600"/>
            <a:ext cx="2011680" cy="3383280"/>
          </a:xfrm>
          <a:prstGeom prst="rect">
            <a:avLst/>
          </a:prstGeom>
          <a:solidFill>
            <a:srgbClr val="1F1F1F"/>
          </a:solidFill>
          <a:ln w="12700">
            <a:solidFill>
              <a:srgbClr val="3A7D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03136" y="1371600"/>
            <a:ext cx="2011680" cy="384048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03136" y="1371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03136" y="1828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🔒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912864" y="25146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Monitoring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12864" y="3063240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down with IAM roles &amp; policies. CloudWatch monitors all services in real-time with automatic alerts and dashboards.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AWS Services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697480" cy="1783080"/>
          </a:xfrm>
          <a:prstGeom prst="rect">
            <a:avLst/>
          </a:prstGeom>
          <a:solidFill>
            <a:srgbClr val="1F1F1F"/>
          </a:solidFill>
          <a:ln w="12700">
            <a:solidFill>
              <a:srgbClr val="3A7D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697480" cy="54864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69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B8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S3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99032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website hosting. Stores HTML, CSS, JS. 99.999999999% durability. No web server required.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82112" y="960120"/>
            <a:ext cx="2697480" cy="1783080"/>
          </a:xfrm>
          <a:prstGeom prst="rect">
            <a:avLst/>
          </a:prstGeom>
          <a:solidFill>
            <a:srgbClr val="1F1F1F"/>
          </a:solidFill>
          <a:ln w="12700">
            <a:solidFill>
              <a:srgbClr val="3A7D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82112" y="960120"/>
            <a:ext cx="2697480" cy="54864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069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B8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EC2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9272" y="1399032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compute for menu management, order processing, and web applications with Auto Scaling.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9904" y="960120"/>
            <a:ext cx="2697480" cy="1783080"/>
          </a:xfrm>
          <a:prstGeom prst="rect">
            <a:avLst/>
          </a:prstGeom>
          <a:solidFill>
            <a:srgbClr val="1F1F1F"/>
          </a:solidFill>
          <a:ln w="12700">
            <a:solidFill>
              <a:srgbClr val="3A7D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9904" y="960120"/>
            <a:ext cx="2697480" cy="54864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7064" y="1069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B8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RDS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27064" y="1399032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relational database for menu items, orders, and customer data with Multi-AZ failover.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2697480" cy="1783080"/>
          </a:xfrm>
          <a:prstGeom prst="rect">
            <a:avLst/>
          </a:prstGeom>
          <a:solidFill>
            <a:srgbClr val="1F1F1F"/>
          </a:solidFill>
          <a:ln w="12700">
            <a:solidFill>
              <a:srgbClr val="3A7D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26080"/>
            <a:ext cx="2697480" cy="54864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358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B8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Lambda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3364992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functions triggered by events — new orders, API calls, S3 uploads. Pay per use.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82112" y="2926080"/>
            <a:ext cx="2697480" cy="1783080"/>
          </a:xfrm>
          <a:prstGeom prst="rect">
            <a:avLst/>
          </a:prstGeom>
          <a:solidFill>
            <a:srgbClr val="1F1F1F"/>
          </a:solidFill>
          <a:ln w="12700">
            <a:solidFill>
              <a:srgbClr val="3A7D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82112" y="2926080"/>
            <a:ext cx="2697480" cy="54864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30358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B8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IAM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19272" y="3364992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access management. Controls who can access AWS resources via roles and policies.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9904" y="2926080"/>
            <a:ext cx="2697480" cy="1783080"/>
          </a:xfrm>
          <a:prstGeom prst="rect">
            <a:avLst/>
          </a:prstGeom>
          <a:solidFill>
            <a:srgbClr val="1F1F1F"/>
          </a:solidFill>
          <a:ln w="12700">
            <a:solidFill>
              <a:srgbClr val="3A7D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9904" y="2926080"/>
            <a:ext cx="2697480" cy="54864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27064" y="30358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B8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CloudWatch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27064" y="3364992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monitoring, logging, and automatic alerts across all AWS services and infrastructure.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&amp; Cost Estimate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monthly AWS costs for FreshlyGround Café (Phase 1 &amp; 2)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3200400" cy="384048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261872"/>
            <a:ext cx="3200400" cy="384048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2618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Basis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1261872"/>
            <a:ext cx="2468880" cy="384048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2618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Monthly Cost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664208"/>
            <a:ext cx="3200400" cy="475488"/>
          </a:xfrm>
          <a:prstGeom prst="rect">
            <a:avLst/>
          </a:prstGeom>
          <a:solidFill>
            <a:srgbClr val="1F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6420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(Website Hosting)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0" y="1664208"/>
            <a:ext cx="3200400" cy="475488"/>
          </a:xfrm>
          <a:prstGeom prst="rect">
            <a:avLst/>
          </a:prstGeom>
          <a:solidFill>
            <a:srgbClr val="1F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166420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GB storage + 10K requests/month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75120" y="1664208"/>
            <a:ext cx="2468880" cy="475488"/>
          </a:xfrm>
          <a:prstGeom prst="rect">
            <a:avLst/>
          </a:prstGeom>
          <a:solidFill>
            <a:srgbClr val="1F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166420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~$0.03 — Free Tier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167128"/>
            <a:ext cx="3200400" cy="47548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16712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EC2 (t2.micro)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0" y="2167128"/>
            <a:ext cx="3200400" cy="47548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216712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hrs/month — Free Tier eligible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75120" y="2167128"/>
            <a:ext cx="2468880" cy="47548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16712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~$0.00 — Free Tier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670048"/>
            <a:ext cx="3200400" cy="475488"/>
          </a:xfrm>
          <a:prstGeom prst="rect">
            <a:avLst/>
          </a:prstGeom>
          <a:solidFill>
            <a:srgbClr val="1F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67004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 (db.t3.micro)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0" y="2670048"/>
            <a:ext cx="3200400" cy="475488"/>
          </a:xfrm>
          <a:prstGeom prst="rect">
            <a:avLst/>
          </a:prstGeom>
          <a:solidFill>
            <a:srgbClr val="1F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267004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hrs + 20 GB storage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675120" y="2670048"/>
            <a:ext cx="2468880" cy="475488"/>
          </a:xfrm>
          <a:prstGeom prst="rect">
            <a:avLst/>
          </a:prstGeom>
          <a:solidFill>
            <a:srgbClr val="1F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267004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~$0.00 — Free Tier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172968"/>
            <a:ext cx="3200400" cy="47548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17296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74720" y="3172968"/>
            <a:ext cx="3200400" cy="47548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317296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requests/month — Free Tier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75120" y="3172968"/>
            <a:ext cx="2468880" cy="47548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31729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~$0.00 — Free Tier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675888"/>
            <a:ext cx="3200400" cy="475488"/>
          </a:xfrm>
          <a:prstGeom prst="rect">
            <a:avLst/>
          </a:prstGeom>
          <a:solidFill>
            <a:srgbClr val="1F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67588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474720" y="3675888"/>
            <a:ext cx="3200400" cy="475488"/>
          </a:xfrm>
          <a:prstGeom prst="rect">
            <a:avLst/>
          </a:prstGeom>
          <a:solidFill>
            <a:srgbClr val="1F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66160" y="367588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with AWS account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675120" y="3675888"/>
            <a:ext cx="2468880" cy="475488"/>
          </a:xfrm>
          <a:prstGeom prst="rect">
            <a:avLst/>
          </a:prstGeom>
          <a:solidFill>
            <a:srgbClr val="1F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0" y="367588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4178808"/>
            <a:ext cx="3200400" cy="47548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17880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CloudWatch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474720" y="4178808"/>
            <a:ext cx="3200400" cy="47548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66160" y="417880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metrics included free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675120" y="4178808"/>
            <a:ext cx="2468880" cy="47548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66560" y="417880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~$0.00 — Free Tier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TOTAL (Phase 1):  ~$0 – $5/month  (Free Tier eligible)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 of Migrating to AWS — On-Premises vs AWS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286000" cy="384048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914400"/>
            <a:ext cx="3108960" cy="384048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9144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On-Premises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914400"/>
            <a:ext cx="3108960" cy="384048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9144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AWS Cloud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325880"/>
            <a:ext cx="2286000" cy="530352"/>
          </a:xfrm>
          <a:prstGeom prst="rect">
            <a:avLst/>
          </a:prstGeom>
          <a:solidFill>
            <a:srgbClr val="1F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2588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Cost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0" y="1325880"/>
            <a:ext cx="3108960" cy="530352"/>
          </a:xfrm>
          <a:prstGeom prst="rect">
            <a:avLst/>
          </a:prstGeom>
          <a:solidFill>
            <a:srgbClr val="1F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132588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hardware purchases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325880"/>
            <a:ext cx="2834640" cy="530352"/>
          </a:xfrm>
          <a:prstGeom prst="rect">
            <a:avLst/>
          </a:prstGeom>
          <a:solidFill>
            <a:srgbClr val="1F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32588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pay-as-you-go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1892808"/>
            <a:ext cx="2286000" cy="530352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89280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0" y="1892808"/>
            <a:ext cx="3108960" cy="530352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189280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slow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1892808"/>
            <a:ext cx="2834640" cy="530352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89280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in minutes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459736"/>
            <a:ext cx="2286000" cy="530352"/>
          </a:xfrm>
          <a:prstGeom prst="rect">
            <a:avLst/>
          </a:prstGeom>
          <a:solidFill>
            <a:srgbClr val="1F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45973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0" y="2459736"/>
            <a:ext cx="3108960" cy="530352"/>
          </a:xfrm>
          <a:prstGeom prst="rect">
            <a:avLst/>
          </a:prstGeom>
          <a:solidFill>
            <a:srgbClr val="1F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2459736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IT team required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5040" y="2459736"/>
            <a:ext cx="2834640" cy="530352"/>
          </a:xfrm>
          <a:prstGeom prst="rect">
            <a:avLst/>
          </a:prstGeom>
          <a:solidFill>
            <a:srgbClr val="1F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245973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manages infrastructure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026664"/>
            <a:ext cx="2286000" cy="530352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02666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0" y="3026664"/>
            <a:ext cx="3108960" cy="530352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34640" y="302666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35040" y="3026664"/>
            <a:ext cx="2834640" cy="530352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302666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 uptime SLA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593592"/>
            <a:ext cx="2286000" cy="530352"/>
          </a:xfrm>
          <a:prstGeom prst="rect">
            <a:avLst/>
          </a:prstGeom>
          <a:solidFill>
            <a:srgbClr val="1F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59359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0" y="3593592"/>
            <a:ext cx="3108960" cy="530352"/>
          </a:xfrm>
          <a:prstGeom prst="rect">
            <a:avLst/>
          </a:prstGeom>
          <a:solidFill>
            <a:srgbClr val="1F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34640" y="359359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patches, no auto-backup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35040" y="3593592"/>
            <a:ext cx="2834640" cy="530352"/>
          </a:xfrm>
          <a:prstGeom prst="rect">
            <a:avLst/>
          </a:prstGeom>
          <a:solidFill>
            <a:srgbClr val="1F1F1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359359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encryption, IAM, backups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4160520"/>
            <a:ext cx="2286000" cy="530352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16052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0" y="4160520"/>
            <a:ext cx="3108960" cy="530352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4640" y="416052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&amp; expensive to set up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035040" y="4160520"/>
            <a:ext cx="2834640" cy="530352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0" y="416052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Multi-AZ, automated snapshots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Architecture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2103120"/>
            <a:ext cx="1280160" cy="96012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22128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" y="2633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737360" y="2103120"/>
            <a:ext cx="1280160" cy="96012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37360" y="22128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2633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29000" y="1005840"/>
            <a:ext cx="1463040" cy="960120"/>
          </a:xfrm>
          <a:prstGeom prst="rect">
            <a:avLst/>
          </a:prstGeom>
          <a:solidFill>
            <a:srgbClr val="3A7D44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0" y="11155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S3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15361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Website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29000" y="3200400"/>
            <a:ext cx="1463040" cy="960120"/>
          </a:xfrm>
          <a:prstGeom prst="rect">
            <a:avLst/>
          </a:prstGeom>
          <a:solidFill>
            <a:srgbClr val="1E6091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29000" y="33101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EC2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37307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349240" y="3200400"/>
            <a:ext cx="1463040" cy="960120"/>
          </a:xfrm>
          <a:prstGeom prst="rect">
            <a:avLst/>
          </a:prstGeom>
          <a:solidFill>
            <a:srgbClr val="7B2D8B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49240" y="33101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RDS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49240" y="37307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349240" y="1005840"/>
            <a:ext cx="146304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49240" y="11155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IAM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49240" y="15361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223760" y="2103120"/>
            <a:ext cx="1371600" cy="960120"/>
          </a:xfrm>
          <a:prstGeom prst="rect">
            <a:avLst/>
          </a:prstGeom>
          <a:solidFill>
            <a:srgbClr val="E67E22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23760" y="22128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CloudWatch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23760" y="2633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463040" y="2578608"/>
            <a:ext cx="274320" cy="0"/>
          </a:xfrm>
          <a:prstGeom prst="line">
            <a:avLst/>
          </a:prstGeom>
          <a:noFill/>
          <a:ln w="19050">
            <a:solidFill>
              <a:srgbClr val="3A7D44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3017520" y="2578608"/>
            <a:ext cx="411480" cy="0"/>
          </a:xfrm>
          <a:prstGeom prst="line">
            <a:avLst/>
          </a:prstGeom>
          <a:noFill/>
          <a:ln w="19050">
            <a:solidFill>
              <a:srgbClr val="3A7D44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892040" y="1828800"/>
            <a:ext cx="457200" cy="0"/>
          </a:xfrm>
          <a:prstGeom prst="line">
            <a:avLst/>
          </a:prstGeom>
          <a:noFill/>
          <a:ln w="19050">
            <a:solidFill>
              <a:srgbClr val="3A7D44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892040" y="3675888"/>
            <a:ext cx="457200" cy="0"/>
          </a:xfrm>
          <a:prstGeom prst="line">
            <a:avLst/>
          </a:prstGeom>
          <a:noFill/>
          <a:ln w="19050">
            <a:solidFill>
              <a:srgbClr val="3A7D44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812280" y="2578608"/>
            <a:ext cx="411480" cy="0"/>
          </a:xfrm>
          <a:prstGeom prst="line">
            <a:avLst/>
          </a:prstGeom>
          <a:noFill/>
          <a:ln w="19050">
            <a:solidFill>
              <a:srgbClr val="3A7D44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4160520" y="1965960"/>
            <a:ext cx="0" cy="1234440"/>
          </a:xfrm>
          <a:prstGeom prst="line">
            <a:avLst/>
          </a:prstGeom>
          <a:noFill/>
          <a:ln w="19050">
            <a:solidFill>
              <a:srgbClr val="3A7D44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secured by AWS IAM roles &amp; policies. CloudWatch monitors all services in real time.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743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☕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is Brewed in the Cloud.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migrating to AWS, FreshlyGround Café will eliminate outdated infrastructure,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modern online presence, and serve customers better than ever.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0" y="2880360"/>
            <a:ext cx="1828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A7D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0" y="28803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Lower Cost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49040" y="2880360"/>
            <a:ext cx="1828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A7D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49040" y="28803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Scalable Growth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2880360"/>
            <a:ext cx="1828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A7D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52160" y="28803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Enterprise Security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3749040"/>
            <a:ext cx="6400800" cy="0"/>
          </a:xfrm>
          <a:prstGeom prst="line">
            <a:avLst/>
          </a:prstGeom>
          <a:noFill/>
          <a:ln w="12700">
            <a:solidFill>
              <a:srgbClr val="3A7D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Motsoko  ·  AWS re/Start Programme  ·  2025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4343400"/>
            <a:ext cx="2194560" cy="320040"/>
          </a:xfrm>
          <a:prstGeom prst="rect">
            <a:avLst/>
          </a:prstGeom>
          <a:solidFill>
            <a:srgbClr val="1F1F1F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4343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Hosted on AWS S3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FreshlyGround Café — Cloud Migration Proposal</dc:title>
  <dc:subject>PptxGenJS Presentation</dc:subject>
  <dc:creator>PptxGenJS</dc:creator>
  <cp:lastModifiedBy>PptxGenJS</cp:lastModifiedBy>
  <cp:revision>1</cp:revision>
  <dcterms:created xsi:type="dcterms:W3CDTF">2026-02-22T08:44:12Z</dcterms:created>
  <dcterms:modified xsi:type="dcterms:W3CDTF">2026-02-22T08:44:12Z</dcterms:modified>
</cp:coreProperties>
</file>