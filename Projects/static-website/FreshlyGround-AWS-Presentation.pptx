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5C2D0E">
              <a:alpha val="25000"/>
            </a:srgbClr>
          </a:solidFill>
          <a:ln w="12700">
            <a:solidFill>
              <a:srgbClr val="5C2D0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2194560" cy="347472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A0A00"/>
                </a:solidFill>
              </a:rPr>
              <a:t>AWS RE/START PROGRAMME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DF8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FreshlyGround Café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Migration Proposal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7"/>
                </a:solidFill>
              </a:rPr>
              <a:t>Migrating from On-Premises to AWS for a Faster,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D5B7"/>
                </a:solidFill>
              </a:rPr>
              <a:t>More Reliable, and Scalable Future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D1200"/>
          </a:solidFill>
          <a:ln w="12700">
            <a:solidFill>
              <a:srgbClr val="2D1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D5B7"/>
                </a:solidFill>
              </a:rPr>
              <a:t>Presented by Junior Motsoko  |  AWS re/Start Learner  | 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10058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0" cy="10058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0A00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2D0E"/>
                </a:solidFill>
              </a:rPr>
              <a:t>Why FreshlyGround needs to move to the cloud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10058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88720"/>
            <a:ext cx="457200" cy="10058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0A00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2D0E"/>
                </a:solidFill>
              </a:rPr>
              <a:t>AWS as the platform of choice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206240" cy="10058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23160"/>
            <a:ext cx="457200" cy="10058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0A00"/>
                </a:solidFill>
              </a:rPr>
              <a:t>Key AWS Services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2D0E"/>
                </a:solidFill>
              </a:rPr>
              <a:t>S3, EC2, RDS, Lambda, IAM &amp;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4206240" cy="10058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423160"/>
            <a:ext cx="457200" cy="10058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23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0A00"/>
                </a:solidFill>
              </a:rPr>
              <a:t>Pricing &amp; Cost Estimate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2D0E"/>
                </a:solidFill>
              </a:rPr>
              <a:t>Breakdown of expected monthly costs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206240" cy="10058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57600"/>
            <a:ext cx="457200" cy="10058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0A00"/>
                </a:solidFill>
              </a:rPr>
              <a:t>Benefits of AWS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2D0E"/>
                </a:solidFill>
              </a:rPr>
              <a:t>Why AWS beats on-premises and competitors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206240" cy="10058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657600"/>
            <a:ext cx="457200" cy="10058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576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0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0A00"/>
                </a:solidFill>
              </a:rPr>
              <a:t>Architecture Overview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2D0E"/>
                </a:solidFill>
              </a:rPr>
              <a:t>High-level AWS cloud architecture diagram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200"/>
          </a:solidFill>
          <a:ln w="12700">
            <a:solidFill>
              <a:srgbClr val="2D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DF8F2"/>
                </a:solidFill>
              </a:rPr>
              <a:t>FreshlyGround Café — Current State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14300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41"/>
                </a:solidFill>
              </a:rPr>
              <a:t>Outdated On-Premises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Ageing servers that require costly maintenance, frequent downtime, and manual updates.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114800" cy="114300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41"/>
                </a:solidFill>
              </a:rPr>
              <a:t>No Online Presence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2167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Customers cannot view the menu, contact the café, or engage digitally — lost business every day.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114300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41"/>
                </a:solidFill>
              </a:rPr>
              <a:t>Can't Scale for Peak Demand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538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On-premises infrastructure cannot handle busy periods like weekends or seasonal rushes.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114800" cy="114300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7941"/>
                </a:solidFill>
              </a:rPr>
              <a:t>Security Vulnerabilities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538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No automated backups, no disaster recovery plan, and no access control policies in place.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0A00"/>
                </a:solidFill>
              </a:rPr>
              <a:t>FreshlyGround will adopt a Hybrid-to-Full Cloud Migration model using Amazon Web Services (AWS).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743200" cy="28346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2743200" cy="41148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0A00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🪣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</a:rPr>
              <a:t>Static Website on S3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347472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2D0E"/>
                </a:solidFill>
              </a:rPr>
              <a:t>Host the café's website on Amazon S3 with static website hosting. Menu, contact info, and branding — live immediately.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743200" cy="28346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28800"/>
            <a:ext cx="2743200" cy="41148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0A00"/>
                </a:solidFill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</a:rPr>
              <a:t>Compute &amp; Databases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347472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2D0E"/>
                </a:solidFill>
              </a:rPr>
              <a:t>Migrate café applications to EC2 instances and databases to Amazon RDS for managed, scalable relational storage.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743200" cy="2834640"/>
          </a:xfrm>
          <a:prstGeom prst="rect">
            <a:avLst/>
          </a:prstGeom>
          <a:solidFill>
            <a:srgbClr val="F5EDE0"/>
          </a:solidFill>
          <a:ln w="1270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828800"/>
            <a:ext cx="2743200" cy="41148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0A00"/>
                </a:solidFill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</a:rPr>
              <a:t>Full Cloud Operation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347472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2D0E"/>
                </a:solidFill>
              </a:rPr>
              <a:t>Integrate Lambda functions, CloudWatch monitoring, and IAM policies for a fully automated, secure cloud operation.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0" y="3246120"/>
            <a:ext cx="182880" cy="0"/>
          </a:xfrm>
          <a:prstGeom prst="line">
            <a:avLst/>
          </a:prstGeom>
          <a:noFill/>
          <a:ln w="25400">
            <a:solidFill>
              <a:srgbClr val="C879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246120"/>
            <a:ext cx="182880" cy="0"/>
          </a:xfrm>
          <a:prstGeom prst="line">
            <a:avLst/>
          </a:prstGeom>
          <a:noFill/>
          <a:ln w="25400">
            <a:solidFill>
              <a:srgbClr val="C8794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200"/>
          </a:solidFill>
          <a:ln w="12700">
            <a:solidFill>
              <a:srgbClr val="2D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AWS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55448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51760" cy="347472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941"/>
                </a:solidFill>
              </a:rPr>
              <a:t>🪣  Amazon S3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5544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Static website hosting. Stores HTML, CSS, JS. 99.999999999% durability.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651760" cy="155448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143000"/>
            <a:ext cx="2651760" cy="347472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941"/>
                </a:solidFill>
              </a:rPr>
              <a:t>🖥️  Amazon EC2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5544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Scalable compute for menu management, order processing, and web apps.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651760" cy="155448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143000"/>
            <a:ext cx="2651760" cy="347472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941"/>
                </a:solidFill>
              </a:rPr>
              <a:t>🗄️  Amazon 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9048" y="155448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Managed relational database for menu items, orders, and customer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651760" cy="155448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80360"/>
            <a:ext cx="2651760" cy="347472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941"/>
                </a:solidFill>
              </a:rPr>
              <a:t>⚡  AWS Lambda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29184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Serverless functions triggered by events — no server management needed.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880360"/>
            <a:ext cx="2651760" cy="155448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2880360"/>
            <a:ext cx="2651760" cy="347472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941"/>
                </a:solidFill>
              </a:rPr>
              <a:t>🔒  AWS IAM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329184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Identity &amp; Access Management. Controls permissions and secures resources.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2880360"/>
            <a:ext cx="2651760" cy="1554480"/>
          </a:xfrm>
          <a:prstGeom prst="rect">
            <a:avLst/>
          </a:prstGeom>
          <a:solidFill>
            <a:srgbClr val="2D1200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880360"/>
            <a:ext cx="2651760" cy="347472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941"/>
                </a:solidFill>
              </a:rPr>
              <a:t>📊  Amazon CloudWatch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9048" y="329184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D5B7"/>
                </a:solidFill>
              </a:rPr>
              <a:t>Real-time monitoring, logging, and automated alerting for all services.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Cost Estimate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C2D0E"/>
                </a:solidFill>
              </a:rPr>
              <a:t>Estimated monthly AWS costs for FreshlyGround Café (Phase 1 &amp; 2)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23774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 Service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Usage Basis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Monthly Cost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Amazon S3 (Website Hosting)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&lt; 1 GB storage + 10K requests/month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~$0.03 – Free Tier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Amazon EC2 (t2.micro)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750 hrs/month – Free Tier eligible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~$0.00 – $8.50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Amazon RDS (db.t3.micro)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Single-AZ, 20GB storage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~$15 – $25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AWS Lambda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&lt; 1M requests/month – Free Tier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~$0.00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AWS IAM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Included with all AWS accounts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$0.00 – Free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Amazon CloudWatch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Basic monitoring + 10 alarms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~$0.00 – $3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0A00"/>
                          </a:solidFill>
                        </a:rPr>
                        <a:t>TOTAL ESTIMATED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0A00"/>
                          </a:solidFill>
                        </a:rPr>
                        <a:t>Phase 1 Free Tier / Phase 1+2 paid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0A00"/>
                          </a:solidFill>
                        </a:rPr>
                        <a:t>~$0 – $36.50 / month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4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* Costs based on AWS Free Tier eligibility and us-east-1 region pricing. Use the AWS Pricing Calculator for exact estimates.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200"/>
          </a:solidFill>
          <a:ln w="12700">
            <a:solidFill>
              <a:srgbClr val="2D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of Migrating to AWS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D5B7"/>
                </a:solidFill>
              </a:rPr>
              <a:t>On-Premises vs AWS — Side by Side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338328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0A00"/>
                          </a:solidFill>
                        </a:rPr>
                        <a:t>Factor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❌  On-Premises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0A00"/>
                          </a:solidFill>
                        </a:rPr>
                        <a:t>✅  AWS Cloud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Upfront Cost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High – hardware purchases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Low – pay-as-you-go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Scalability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Manual &amp; slow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Auto-scaling in minutes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Maintenance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In-house IT team required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AWS manages infrastructure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Reliability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Single point of failure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99.99% availability SLA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Security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Manual patching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Built-in encryption &amp; IAM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Disaster Recovery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Expensive &amp; complex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D5B7"/>
                          </a:solidFill>
                        </a:rPr>
                        <a:t>Automated backups &amp; Multi-AZ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2D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2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920240"/>
            <a:ext cx="1371600" cy="1280160"/>
          </a:xfrm>
          <a:prstGeom prst="rect">
            <a:avLst/>
          </a:prstGeom>
          <a:solidFill>
            <a:srgbClr val="F5EDE0"/>
          </a:solidFill>
          <a:ln w="12700">
            <a:solidFill>
              <a:srgbClr val="C879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920240"/>
            <a:ext cx="1371600" cy="3200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0A00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2880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2807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2D0E"/>
                </a:solidFill>
              </a:rPr>
              <a:t>Web Browser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920240"/>
            <a:ext cx="1371600" cy="1280160"/>
          </a:xfrm>
          <a:prstGeom prst="rect">
            <a:avLst/>
          </a:prstGeom>
          <a:solidFill>
            <a:srgbClr val="F5EDE0"/>
          </a:solidFill>
          <a:ln w="12700">
            <a:solidFill>
              <a:srgbClr val="C879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0240" y="1920240"/>
            <a:ext cx="1371600" cy="3200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0A00"/>
                </a:solidFill>
              </a:rPr>
              <a:t>Internet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2267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807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2D0E"/>
                </a:solidFill>
              </a:rPr>
              <a:t>HTTPS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1920240"/>
            <a:ext cx="1645920" cy="1280160"/>
          </a:xfrm>
          <a:prstGeom prst="rect">
            <a:avLst/>
          </a:prstGeom>
          <a:solidFill>
            <a:srgbClr val="F5EDE0"/>
          </a:solidFill>
          <a:ln w="12700">
            <a:solidFill>
              <a:srgbClr val="C879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1920240"/>
            <a:ext cx="1645920" cy="3200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0A00"/>
                </a:solidFill>
              </a:rPr>
              <a:t>Amazon S3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0" y="22677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2807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2D0E"/>
                </a:solidFill>
              </a:rPr>
              <a:t>Static Website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3566160"/>
            <a:ext cx="1645920" cy="1280160"/>
          </a:xfrm>
          <a:prstGeom prst="rect">
            <a:avLst/>
          </a:prstGeom>
          <a:solidFill>
            <a:srgbClr val="F5EDE0"/>
          </a:solidFill>
          <a:ln w="12700">
            <a:solidFill>
              <a:srgbClr val="C879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3566160"/>
            <a:ext cx="1645920" cy="3200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0A00"/>
                </a:solidFill>
              </a:rPr>
              <a:t>Amazon EC2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0" y="3913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2D0E"/>
                </a:solidFill>
              </a:rPr>
              <a:t>App Server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52160" y="3566160"/>
            <a:ext cx="1645920" cy="1280160"/>
          </a:xfrm>
          <a:prstGeom prst="rect">
            <a:avLst/>
          </a:prstGeom>
          <a:solidFill>
            <a:srgbClr val="F5EDE0"/>
          </a:solidFill>
          <a:ln w="12700">
            <a:solidFill>
              <a:srgbClr val="C879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3566160"/>
            <a:ext cx="1645920" cy="3200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0A00"/>
                </a:solidFill>
              </a:rPr>
              <a:t>Amazon RDS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3913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52160" y="4453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2D0E"/>
                </a:solidFill>
              </a:rPr>
              <a:t>Database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1920240"/>
            <a:ext cx="1645920" cy="1280160"/>
          </a:xfrm>
          <a:prstGeom prst="rect">
            <a:avLst/>
          </a:prstGeom>
          <a:solidFill>
            <a:srgbClr val="F5EDE0"/>
          </a:solidFill>
          <a:ln w="12700">
            <a:solidFill>
              <a:srgbClr val="C879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1920240"/>
            <a:ext cx="1645920" cy="3200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0A00"/>
                </a:solidFill>
              </a:rPr>
              <a:t>AWS IAM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52160" y="22677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852160" y="2807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2D0E"/>
                </a:solidFill>
              </a:rPr>
              <a:t>Access Control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89520" y="2651760"/>
            <a:ext cx="1371600" cy="1280160"/>
          </a:xfrm>
          <a:prstGeom prst="rect">
            <a:avLst/>
          </a:prstGeom>
          <a:solidFill>
            <a:srgbClr val="F5EDE0"/>
          </a:solidFill>
          <a:ln w="12700">
            <a:solidFill>
              <a:srgbClr val="C879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89520" y="2651760"/>
            <a:ext cx="1371600" cy="32004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0A00"/>
                </a:solidFill>
              </a:rPr>
              <a:t>CloudWatch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89520" y="2999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89520" y="3538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2D0E"/>
                </a:solidFill>
              </a:rPr>
              <a:t>Monitoring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554480" y="2569464"/>
            <a:ext cx="365760" cy="9144"/>
          </a:xfrm>
          <a:prstGeom prst="line">
            <a:avLst/>
          </a:prstGeom>
          <a:noFill/>
          <a:ln w="19050">
            <a:solidFill>
              <a:srgbClr val="C87941"/>
            </a:solidFill>
            <a:prstDash val="sysDash"/>
          </a:ln>
        </p:spPr>
      </p:sp>
      <p:sp>
        <p:nvSpPr>
          <p:cNvPr id="40" name="Shape 38"/>
          <p:cNvSpPr/>
          <p:nvPr/>
        </p:nvSpPr>
        <p:spPr>
          <a:xfrm>
            <a:off x="3291840" y="2569464"/>
            <a:ext cx="365760" cy="9144"/>
          </a:xfrm>
          <a:prstGeom prst="line">
            <a:avLst/>
          </a:prstGeom>
          <a:noFill/>
          <a:ln w="19050">
            <a:solidFill>
              <a:srgbClr val="C87941"/>
            </a:solidFill>
            <a:prstDash val="sysDash"/>
          </a:ln>
        </p:spPr>
      </p:sp>
      <p:sp>
        <p:nvSpPr>
          <p:cNvPr id="41" name="Shape 39"/>
          <p:cNvSpPr/>
          <p:nvPr/>
        </p:nvSpPr>
        <p:spPr>
          <a:xfrm>
            <a:off x="5303520" y="2569464"/>
            <a:ext cx="548640" cy="9144"/>
          </a:xfrm>
          <a:prstGeom prst="line">
            <a:avLst/>
          </a:prstGeom>
          <a:noFill/>
          <a:ln w="19050">
            <a:solidFill>
              <a:srgbClr val="C87941"/>
            </a:solidFill>
            <a:prstDash val="sysDash"/>
          </a:ln>
        </p:spPr>
      </p:sp>
      <p:sp>
        <p:nvSpPr>
          <p:cNvPr id="42" name="Shape 40"/>
          <p:cNvSpPr/>
          <p:nvPr/>
        </p:nvSpPr>
        <p:spPr>
          <a:xfrm>
            <a:off x="4480560" y="3200400"/>
            <a:ext cx="9144" cy="365760"/>
          </a:xfrm>
          <a:prstGeom prst="line">
            <a:avLst/>
          </a:prstGeom>
          <a:noFill/>
          <a:ln w="19050">
            <a:solidFill>
              <a:srgbClr val="C87941"/>
            </a:solidFill>
            <a:prstDash val="sysDash"/>
          </a:ln>
        </p:spPr>
      </p:sp>
      <p:sp>
        <p:nvSpPr>
          <p:cNvPr id="43" name="Shape 41"/>
          <p:cNvSpPr/>
          <p:nvPr/>
        </p:nvSpPr>
        <p:spPr>
          <a:xfrm>
            <a:off x="5303520" y="4206240"/>
            <a:ext cx="548640" cy="9144"/>
          </a:xfrm>
          <a:prstGeom prst="line">
            <a:avLst/>
          </a:prstGeom>
          <a:noFill/>
          <a:ln w="19050">
            <a:solidFill>
              <a:srgbClr val="C87941"/>
            </a:solidFill>
            <a:prstDash val="sysDash"/>
          </a:ln>
        </p:spPr>
      </p:sp>
      <p:sp>
        <p:nvSpPr>
          <p:cNvPr id="44" name="Shape 42"/>
          <p:cNvSpPr/>
          <p:nvPr/>
        </p:nvSpPr>
        <p:spPr>
          <a:xfrm>
            <a:off x="6675120" y="2569464"/>
            <a:ext cx="914400" cy="402336"/>
          </a:xfrm>
          <a:prstGeom prst="line">
            <a:avLst/>
          </a:prstGeom>
          <a:noFill/>
          <a:ln w="19050">
            <a:solidFill>
              <a:srgbClr val="C87941"/>
            </a:solidFill>
            <a:prstDash val="sysDash"/>
          </a:ln>
        </p:spPr>
      </p:sp>
      <p:sp>
        <p:nvSpPr>
          <p:cNvPr id="45" name="Shape 43"/>
          <p:cNvSpPr/>
          <p:nvPr/>
        </p:nvSpPr>
        <p:spPr>
          <a:xfrm>
            <a:off x="6675120" y="4206240"/>
            <a:ext cx="914400" cy="685800"/>
          </a:xfrm>
          <a:prstGeom prst="line">
            <a:avLst/>
          </a:prstGeom>
          <a:noFill/>
          <a:ln w="19050">
            <a:solidFill>
              <a:srgbClr val="C87941"/>
            </a:solidFill>
            <a:prstDash val="sysDash"/>
          </a:ln>
        </p:spPr>
      </p:sp>
      <p:sp>
        <p:nvSpPr>
          <p:cNvPr id="46" name="Text 4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All components are secured by AWS IAM roles &amp; policies. CloudWatch monitors all services in real time.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4572000" cy="4572000"/>
          </a:xfrm>
          <a:prstGeom prst="ellipse">
            <a:avLst/>
          </a:prstGeom>
          <a:solidFill>
            <a:srgbClr val="5C2D0E">
              <a:alpha val="20000"/>
            </a:srgbClr>
          </a:solidFill>
          <a:ln w="12700">
            <a:solidFill>
              <a:srgbClr val="5C2D0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☕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Brewed in the Cloud.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5B7"/>
                </a:solidFill>
              </a:rPr>
              <a:t>By migrating to AWS, FreshlyGround Café will eliminate outdated infrastructure,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D5B7"/>
                </a:solidFill>
              </a:rPr>
              <a:t>launch a modern online presence, and serve customers better than ever.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2286000" cy="594360"/>
          </a:xfrm>
          <a:prstGeom prst="rect">
            <a:avLst/>
          </a:prstGeom>
          <a:solidFill>
            <a:srgbClr val="5C2D0E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7941"/>
                </a:solidFill>
              </a:rPr>
              <a:t>💰  Lower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337560"/>
            <a:ext cx="2286000" cy="594360"/>
          </a:xfrm>
          <a:prstGeom prst="rect">
            <a:avLst/>
          </a:prstGeom>
          <a:solidFill>
            <a:srgbClr val="5C2D0E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7941"/>
                </a:solidFill>
              </a:rPr>
              <a:t>📈  Scalable Growth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337560"/>
            <a:ext cx="2286000" cy="594360"/>
          </a:xfrm>
          <a:prstGeom prst="rect">
            <a:avLst/>
          </a:prstGeom>
          <a:solidFill>
            <a:srgbClr val="5C2D0E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7941"/>
                </a:solidFill>
              </a:rPr>
              <a:t>🔒  Enterprise Security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D1200"/>
          </a:solidFill>
          <a:ln w="12700">
            <a:solidFill>
              <a:srgbClr val="2D1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B7"/>
                </a:solidFill>
              </a:rPr>
              <a:t>Junior Motsoko  |  AWS re/Start Programme  |  2025  |  Powered by Amazon Web Services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FreshlyGround Café – AWS Cloud Migration Proposal</dc:title>
  <dc:subject>PptxGenJS Presentation</dc:subject>
  <dc:creator>Junior Motsoko</dc:creator>
  <cp:lastModifiedBy>Junior Motsoko</cp:lastModifiedBy>
  <cp:revision>1</cp:revision>
  <dcterms:created xsi:type="dcterms:W3CDTF">2026-02-19T20:29:37Z</dcterms:created>
  <dcterms:modified xsi:type="dcterms:W3CDTF">2026-02-19T20:29:37Z</dcterms:modified>
</cp:coreProperties>
</file>